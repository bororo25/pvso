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62" r:id="rId7"/>
    <p:sldId id="259" r:id="rId8"/>
    <p:sldId id="263" r:id="rId9"/>
    <p:sldId id="266" r:id="rId10"/>
    <p:sldId id="265" r:id="rId11"/>
    <p:sldId id="267" r:id="rId12"/>
    <p:sldId id="260" r:id="rId13"/>
    <p:sldId id="264" r:id="rId14"/>
    <p:sldId id="268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2416E-A766-404A-A980-E0DFB870423F}" v="2205" dt="2026-04-06T20:04:26.722"/>
    <p1510:client id="{FB0FE69E-9A58-43D2-A06C-40271B3F03A5}" v="628" dt="2026-04-06T17:08:53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4968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804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5722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373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6166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6366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0038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2730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8873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9674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3889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86231A8-8DFC-42DB-89F5-8C6BB339F9AF}" type="datetimeFigureOut">
              <a:rPr lang="sk-SK" smtClean="0"/>
              <a:t>6. 4. 2026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255B7F5-B226-4D75-AEC3-495D8FF26A7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8579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E3020A-8ED4-6542-6914-27706459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sk-SK" sz="8000"/>
              <a:t>Prahovacie metódy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C23B9EA-7A31-DFC0-F3ED-1A61EFB2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>
            <a:normAutofit/>
          </a:bodyPr>
          <a:lstStyle/>
          <a:p>
            <a:pPr algn="r"/>
            <a:r>
              <a:rPr lang="sk-SK" sz="1500"/>
              <a:t>Boris Šupák </a:t>
            </a:r>
          </a:p>
          <a:p>
            <a:pPr algn="r"/>
            <a:r>
              <a:rPr lang="sk-SK" sz="1500"/>
              <a:t>Ivan Vanca</a:t>
            </a:r>
          </a:p>
        </p:txBody>
      </p:sp>
    </p:spTree>
    <p:extLst>
      <p:ext uri="{BB962C8B-B14F-4D97-AF65-F5344CB8AC3E}">
        <p14:creationId xmlns:p14="http://schemas.microsoft.com/office/powerpoint/2010/main" val="3512143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493179-19CB-1A87-6ACA-8F62F225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Globálne </a:t>
            </a:r>
            <a:r>
              <a:rPr lang="sk-SK" err="1"/>
              <a:t>prahovanie</a:t>
            </a:r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25EEF6-5F6D-974E-ED89-F068946C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/>
              <a:t>Pri </a:t>
            </a:r>
            <a:r>
              <a:rPr lang="sk-SK" err="1"/>
              <a:t>prahovaní</a:t>
            </a:r>
            <a:r>
              <a:rPr lang="sk-SK"/>
              <a:t> meníme pixeli čiernobieleho obrazu na </a:t>
            </a:r>
            <a:r>
              <a:rPr lang="sk-SK">
                <a:latin typeface="Aptos" panose="020B0004020202020204" pitchFamily="34" charset="0"/>
              </a:rPr>
              <a:t>0</a:t>
            </a:r>
            <a:r>
              <a:rPr lang="sk-SK"/>
              <a:t> alebo </a:t>
            </a:r>
            <a:r>
              <a:rPr lang="sk-SK">
                <a:latin typeface="Aptos" panose="020B0004020202020204" pitchFamily="34" charset="0"/>
              </a:rPr>
              <a:t>255</a:t>
            </a:r>
          </a:p>
          <a:p>
            <a:r>
              <a:rPr lang="sk-SK"/>
              <a:t>Pri globálnom </a:t>
            </a:r>
            <a:r>
              <a:rPr lang="sk-SK" err="1"/>
              <a:t>prahovaní</a:t>
            </a:r>
            <a:r>
              <a:rPr lang="sk-SK"/>
              <a:t> porovnávame jas pixelov s globálnym prahom</a:t>
            </a:r>
            <a:endParaRPr lang="en-GB"/>
          </a:p>
          <a:p>
            <a:r>
              <a:rPr lang="sk-SK" err="1"/>
              <a:t>Prahovanie</a:t>
            </a:r>
            <a:r>
              <a:rPr lang="sk-SK"/>
              <a:t> obrázku auta na pri prahu t = </a:t>
            </a:r>
            <a:r>
              <a:rPr lang="sk-SK">
                <a:latin typeface="Aptos" panose="020B0004020202020204" pitchFamily="34" charset="0"/>
              </a:rPr>
              <a:t>140</a:t>
            </a:r>
          </a:p>
          <a:p>
            <a:endParaRPr lang="sk-SK"/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05647042-02E3-0CAE-3BCF-256F3D8C15C1}"/>
              </a:ext>
            </a:extLst>
          </p:cNvPr>
          <p:cNvSpPr txBox="1"/>
          <p:nvPr/>
        </p:nvSpPr>
        <p:spPr>
          <a:xfrm>
            <a:off x="4086929" y="4862571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-</a:t>
            </a:r>
            <a:r>
              <a:rPr lang="en-GB"/>
              <a:t>&gt;</a:t>
            </a:r>
            <a:endParaRPr lang="sk-SK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809DC402-1F5F-8B24-482B-362DE883B6D1}"/>
              </a:ext>
            </a:extLst>
          </p:cNvPr>
          <p:cNvSpPr txBox="1"/>
          <p:nvPr/>
        </p:nvSpPr>
        <p:spPr>
          <a:xfrm>
            <a:off x="7877153" y="4862565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-</a:t>
            </a:r>
            <a:r>
              <a:rPr lang="en-GB"/>
              <a:t>&gt;</a:t>
            </a:r>
            <a:endParaRPr lang="sk-SK"/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38F08955-47E9-C506-D710-6009F9317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04" y="4095288"/>
            <a:ext cx="3276601" cy="1903883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6EDCC6C2-4F99-E878-B885-E32CEA9E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802" y="4095289"/>
            <a:ext cx="3173138" cy="1903883"/>
          </a:xfrm>
          <a:prstGeom prst="rect">
            <a:avLst/>
          </a:prstGeom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505815CD-AADE-6F54-A905-346595D1C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002" y="4095290"/>
            <a:ext cx="3173139" cy="19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23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C87394-6C08-FE84-7425-A3F94AA2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Zmena prahu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0BC27222-7A55-5E98-C5B3-B1EECA3ED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5" y="2051346"/>
            <a:ext cx="1727731" cy="1036638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9866DDF6-D2F9-4418-B88E-D37761152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55" y="2051346"/>
            <a:ext cx="1727731" cy="1036638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A9CD65FD-C79F-32BC-07F6-9867FA1937E0}"/>
              </a:ext>
            </a:extLst>
          </p:cNvPr>
          <p:cNvSpPr txBox="1"/>
          <p:nvPr/>
        </p:nvSpPr>
        <p:spPr>
          <a:xfrm>
            <a:off x="978784" y="3181124"/>
            <a:ext cx="70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20</a:t>
            </a: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4958FCAD-EB81-B84B-A7B4-392554F76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811" y="2051346"/>
            <a:ext cx="1727731" cy="1036638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6BA453C7-DBC1-1A7A-A7C2-225D1C560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133" y="2051347"/>
            <a:ext cx="1727731" cy="1036638"/>
          </a:xfrm>
          <a:prstGeom prst="rect">
            <a:avLst/>
          </a:prstGeom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D6A8E6FF-B209-8CCE-3B1F-B6F7845B1A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55" y="2051346"/>
            <a:ext cx="1727731" cy="1036638"/>
          </a:xfrm>
          <a:prstGeom prst="rect">
            <a:avLst/>
          </a:prstGeom>
        </p:spPr>
      </p:pic>
      <p:sp>
        <p:nvSpPr>
          <p:cNvPr id="18" name="BlokTextu 17">
            <a:extLst>
              <a:ext uri="{FF2B5EF4-FFF2-40B4-BE49-F238E27FC236}">
                <a16:creationId xmlns:a16="http://schemas.microsoft.com/office/drawing/2014/main" id="{7AF48C9F-BA2D-2ADB-EA9C-3B3859A80182}"/>
              </a:ext>
            </a:extLst>
          </p:cNvPr>
          <p:cNvSpPr txBox="1"/>
          <p:nvPr/>
        </p:nvSpPr>
        <p:spPr>
          <a:xfrm>
            <a:off x="3004458" y="3181124"/>
            <a:ext cx="709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t = 30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9E244DC3-9A53-B528-6386-72702339903A}"/>
              </a:ext>
            </a:extLst>
          </p:cNvPr>
          <p:cNvSpPr txBox="1"/>
          <p:nvPr/>
        </p:nvSpPr>
        <p:spPr>
          <a:xfrm>
            <a:off x="4844144" y="3146754"/>
            <a:ext cx="709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t = 40</a:t>
            </a:r>
          </a:p>
        </p:txBody>
      </p:sp>
      <p:pic>
        <p:nvPicPr>
          <p:cNvPr id="22" name="Obrázok 21">
            <a:extLst>
              <a:ext uri="{FF2B5EF4-FFF2-40B4-BE49-F238E27FC236}">
                <a16:creationId xmlns:a16="http://schemas.microsoft.com/office/drawing/2014/main" id="{50381D95-E9F3-BA77-F9A9-1D3C3B987C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911" y="2051346"/>
            <a:ext cx="1727731" cy="1036639"/>
          </a:xfrm>
          <a:prstGeom prst="rect">
            <a:avLst/>
          </a:prstGeom>
        </p:spPr>
      </p:pic>
      <p:sp>
        <p:nvSpPr>
          <p:cNvPr id="23" name="BlokTextu 22">
            <a:extLst>
              <a:ext uri="{FF2B5EF4-FFF2-40B4-BE49-F238E27FC236}">
                <a16:creationId xmlns:a16="http://schemas.microsoft.com/office/drawing/2014/main" id="{95A362F1-BE4D-67CF-BCB5-280C90919B07}"/>
              </a:ext>
            </a:extLst>
          </p:cNvPr>
          <p:cNvSpPr txBox="1"/>
          <p:nvPr/>
        </p:nvSpPr>
        <p:spPr>
          <a:xfrm>
            <a:off x="6683830" y="3146754"/>
            <a:ext cx="709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t = 50</a:t>
            </a:r>
          </a:p>
        </p:txBody>
      </p:sp>
      <p:sp>
        <p:nvSpPr>
          <p:cNvPr id="24" name="BlokTextu 23">
            <a:extLst>
              <a:ext uri="{FF2B5EF4-FFF2-40B4-BE49-F238E27FC236}">
                <a16:creationId xmlns:a16="http://schemas.microsoft.com/office/drawing/2014/main" id="{03530927-A628-6C88-6CA1-5C3A8891CA02}"/>
              </a:ext>
            </a:extLst>
          </p:cNvPr>
          <p:cNvSpPr txBox="1"/>
          <p:nvPr/>
        </p:nvSpPr>
        <p:spPr>
          <a:xfrm>
            <a:off x="8658660" y="3146754"/>
            <a:ext cx="79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t = 60</a:t>
            </a:r>
          </a:p>
        </p:txBody>
      </p:sp>
      <p:sp>
        <p:nvSpPr>
          <p:cNvPr id="25" name="BlokTextu 24">
            <a:extLst>
              <a:ext uri="{FF2B5EF4-FFF2-40B4-BE49-F238E27FC236}">
                <a16:creationId xmlns:a16="http://schemas.microsoft.com/office/drawing/2014/main" id="{6ABEB88D-66E4-6422-F1BC-5D2AA8871C56}"/>
              </a:ext>
            </a:extLst>
          </p:cNvPr>
          <p:cNvSpPr txBox="1"/>
          <p:nvPr/>
        </p:nvSpPr>
        <p:spPr>
          <a:xfrm>
            <a:off x="10549192" y="3087984"/>
            <a:ext cx="709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t = 70</a:t>
            </a:r>
          </a:p>
        </p:txBody>
      </p:sp>
      <p:pic>
        <p:nvPicPr>
          <p:cNvPr id="27" name="Obrázok 26">
            <a:extLst>
              <a:ext uri="{FF2B5EF4-FFF2-40B4-BE49-F238E27FC236}">
                <a16:creationId xmlns:a16="http://schemas.microsoft.com/office/drawing/2014/main" id="{142267D5-DB91-357D-6F59-1B144ED2E2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3643596"/>
            <a:ext cx="1727730" cy="1036638"/>
          </a:xfrm>
          <a:prstGeom prst="rect">
            <a:avLst/>
          </a:prstGeom>
        </p:spPr>
      </p:pic>
      <p:pic>
        <p:nvPicPr>
          <p:cNvPr id="29" name="Obrázok 28">
            <a:extLst>
              <a:ext uri="{FF2B5EF4-FFF2-40B4-BE49-F238E27FC236}">
                <a16:creationId xmlns:a16="http://schemas.microsoft.com/office/drawing/2014/main" id="{FF2C1ADA-3B27-5B1C-6E2F-8BEDCE4FF3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55" y="3643596"/>
            <a:ext cx="1727730" cy="1036638"/>
          </a:xfrm>
          <a:prstGeom prst="rect">
            <a:avLst/>
          </a:prstGeom>
        </p:spPr>
      </p:pic>
      <p:pic>
        <p:nvPicPr>
          <p:cNvPr id="31" name="Obrázok 30">
            <a:extLst>
              <a:ext uri="{FF2B5EF4-FFF2-40B4-BE49-F238E27FC236}">
                <a16:creationId xmlns:a16="http://schemas.microsoft.com/office/drawing/2014/main" id="{E46D6B9E-E79E-8327-1C67-E2CC92951D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824" y="3643596"/>
            <a:ext cx="1727730" cy="1036638"/>
          </a:xfrm>
          <a:prstGeom prst="rect">
            <a:avLst/>
          </a:prstGeom>
        </p:spPr>
      </p:pic>
      <p:pic>
        <p:nvPicPr>
          <p:cNvPr id="33" name="Obrázok 32">
            <a:extLst>
              <a:ext uri="{FF2B5EF4-FFF2-40B4-BE49-F238E27FC236}">
                <a16:creationId xmlns:a16="http://schemas.microsoft.com/office/drawing/2014/main" id="{04D50FE8-478F-AC82-4F5B-7A5E9E60F7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451" y="3643596"/>
            <a:ext cx="1724414" cy="1034648"/>
          </a:xfrm>
          <a:prstGeom prst="rect">
            <a:avLst/>
          </a:prstGeom>
        </p:spPr>
      </p:pic>
      <p:pic>
        <p:nvPicPr>
          <p:cNvPr id="35" name="Obrázok 34">
            <a:extLst>
              <a:ext uri="{FF2B5EF4-FFF2-40B4-BE49-F238E27FC236}">
                <a16:creationId xmlns:a16="http://schemas.microsoft.com/office/drawing/2014/main" id="{CB6F4BCF-7D35-74AF-CDD0-3BD5C9649F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55" y="3643596"/>
            <a:ext cx="1724414" cy="1034648"/>
          </a:xfrm>
          <a:prstGeom prst="rect">
            <a:avLst/>
          </a:prstGeom>
        </p:spPr>
      </p:pic>
      <p:pic>
        <p:nvPicPr>
          <p:cNvPr id="37" name="Obrázok 36">
            <a:extLst>
              <a:ext uri="{FF2B5EF4-FFF2-40B4-BE49-F238E27FC236}">
                <a16:creationId xmlns:a16="http://schemas.microsoft.com/office/drawing/2014/main" id="{3632421C-4433-8C40-1D78-81D4CEB609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790" y="3643596"/>
            <a:ext cx="1724413" cy="1034648"/>
          </a:xfrm>
          <a:prstGeom prst="rect">
            <a:avLst/>
          </a:prstGeom>
        </p:spPr>
      </p:pic>
      <p:pic>
        <p:nvPicPr>
          <p:cNvPr id="39" name="Obrázok 38">
            <a:extLst>
              <a:ext uri="{FF2B5EF4-FFF2-40B4-BE49-F238E27FC236}">
                <a16:creationId xmlns:a16="http://schemas.microsoft.com/office/drawing/2014/main" id="{6213D504-61C0-8157-80D5-FC6349A155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5235846"/>
            <a:ext cx="1727730" cy="1036638"/>
          </a:xfrm>
          <a:prstGeom prst="rect">
            <a:avLst/>
          </a:prstGeom>
        </p:spPr>
      </p:pic>
      <p:pic>
        <p:nvPicPr>
          <p:cNvPr id="41" name="Obrázok 40">
            <a:extLst>
              <a:ext uri="{FF2B5EF4-FFF2-40B4-BE49-F238E27FC236}">
                <a16:creationId xmlns:a16="http://schemas.microsoft.com/office/drawing/2014/main" id="{C03BC7AF-CC41-26AB-2C7E-171AA609C96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10" y="5227434"/>
            <a:ext cx="1727731" cy="1036638"/>
          </a:xfrm>
          <a:prstGeom prst="rect">
            <a:avLst/>
          </a:prstGeom>
        </p:spPr>
      </p:pic>
      <p:sp>
        <p:nvSpPr>
          <p:cNvPr id="50" name="BlokTextu 49">
            <a:extLst>
              <a:ext uri="{FF2B5EF4-FFF2-40B4-BE49-F238E27FC236}">
                <a16:creationId xmlns:a16="http://schemas.microsoft.com/office/drawing/2014/main" id="{A424348B-FCAF-7792-E398-AA61A8107D66}"/>
              </a:ext>
            </a:extLst>
          </p:cNvPr>
          <p:cNvSpPr txBox="1"/>
          <p:nvPr/>
        </p:nvSpPr>
        <p:spPr>
          <a:xfrm>
            <a:off x="901166" y="471582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80</a:t>
            </a:r>
          </a:p>
        </p:txBody>
      </p:sp>
      <p:sp>
        <p:nvSpPr>
          <p:cNvPr id="51" name="BlokTextu 50">
            <a:extLst>
              <a:ext uri="{FF2B5EF4-FFF2-40B4-BE49-F238E27FC236}">
                <a16:creationId xmlns:a16="http://schemas.microsoft.com/office/drawing/2014/main" id="{69F75955-242F-6DE6-A4A2-0FC30EDC112A}"/>
              </a:ext>
            </a:extLst>
          </p:cNvPr>
          <p:cNvSpPr txBox="1"/>
          <p:nvPr/>
        </p:nvSpPr>
        <p:spPr>
          <a:xfrm>
            <a:off x="2834349" y="471582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90</a:t>
            </a:r>
          </a:p>
        </p:txBody>
      </p:sp>
      <p:sp>
        <p:nvSpPr>
          <p:cNvPr id="54" name="BlokTextu 53">
            <a:extLst>
              <a:ext uri="{FF2B5EF4-FFF2-40B4-BE49-F238E27FC236}">
                <a16:creationId xmlns:a16="http://schemas.microsoft.com/office/drawing/2014/main" id="{92629951-A6D1-347D-71AC-15E53719BEF0}"/>
              </a:ext>
            </a:extLst>
          </p:cNvPr>
          <p:cNvSpPr txBox="1"/>
          <p:nvPr/>
        </p:nvSpPr>
        <p:spPr>
          <a:xfrm>
            <a:off x="4726256" y="471582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100</a:t>
            </a:r>
          </a:p>
        </p:txBody>
      </p:sp>
      <p:sp>
        <p:nvSpPr>
          <p:cNvPr id="55" name="BlokTextu 54">
            <a:extLst>
              <a:ext uri="{FF2B5EF4-FFF2-40B4-BE49-F238E27FC236}">
                <a16:creationId xmlns:a16="http://schemas.microsoft.com/office/drawing/2014/main" id="{8C5F9C42-CFB2-A1C3-9F93-45140A54ECF1}"/>
              </a:ext>
            </a:extLst>
          </p:cNvPr>
          <p:cNvSpPr txBox="1"/>
          <p:nvPr/>
        </p:nvSpPr>
        <p:spPr>
          <a:xfrm>
            <a:off x="6676135" y="471582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110</a:t>
            </a:r>
          </a:p>
        </p:txBody>
      </p:sp>
      <p:sp>
        <p:nvSpPr>
          <p:cNvPr id="56" name="BlokTextu 55">
            <a:extLst>
              <a:ext uri="{FF2B5EF4-FFF2-40B4-BE49-F238E27FC236}">
                <a16:creationId xmlns:a16="http://schemas.microsoft.com/office/drawing/2014/main" id="{9BDC389B-B922-0BE8-4F5F-1638717ABF96}"/>
              </a:ext>
            </a:extLst>
          </p:cNvPr>
          <p:cNvSpPr txBox="1"/>
          <p:nvPr/>
        </p:nvSpPr>
        <p:spPr>
          <a:xfrm>
            <a:off x="8611586" y="4736550"/>
            <a:ext cx="81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120</a:t>
            </a:r>
          </a:p>
        </p:txBody>
      </p:sp>
      <p:sp>
        <p:nvSpPr>
          <p:cNvPr id="57" name="BlokTextu 56">
            <a:extLst>
              <a:ext uri="{FF2B5EF4-FFF2-40B4-BE49-F238E27FC236}">
                <a16:creationId xmlns:a16="http://schemas.microsoft.com/office/drawing/2014/main" id="{ECEE069F-C0E2-9A73-D79F-0D12C0FCCDF4}"/>
              </a:ext>
            </a:extLst>
          </p:cNvPr>
          <p:cNvSpPr txBox="1"/>
          <p:nvPr/>
        </p:nvSpPr>
        <p:spPr>
          <a:xfrm>
            <a:off x="10554669" y="4715827"/>
            <a:ext cx="797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130</a:t>
            </a:r>
          </a:p>
        </p:txBody>
      </p:sp>
      <p:sp>
        <p:nvSpPr>
          <p:cNvPr id="58" name="BlokTextu 57">
            <a:extLst>
              <a:ext uri="{FF2B5EF4-FFF2-40B4-BE49-F238E27FC236}">
                <a16:creationId xmlns:a16="http://schemas.microsoft.com/office/drawing/2014/main" id="{8062E86D-56C6-8013-C82A-83D99505BD79}"/>
              </a:ext>
            </a:extLst>
          </p:cNvPr>
          <p:cNvSpPr txBox="1"/>
          <p:nvPr/>
        </p:nvSpPr>
        <p:spPr>
          <a:xfrm>
            <a:off x="908826" y="6238505"/>
            <a:ext cx="797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130</a:t>
            </a:r>
          </a:p>
        </p:txBody>
      </p:sp>
      <p:sp>
        <p:nvSpPr>
          <p:cNvPr id="59" name="BlokTextu 58">
            <a:extLst>
              <a:ext uri="{FF2B5EF4-FFF2-40B4-BE49-F238E27FC236}">
                <a16:creationId xmlns:a16="http://schemas.microsoft.com/office/drawing/2014/main" id="{CE43DAA7-3E6B-FB8A-FFAF-987C10A60D48}"/>
              </a:ext>
            </a:extLst>
          </p:cNvPr>
          <p:cNvSpPr txBox="1"/>
          <p:nvPr/>
        </p:nvSpPr>
        <p:spPr>
          <a:xfrm>
            <a:off x="2834349" y="62385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140</a:t>
            </a:r>
          </a:p>
        </p:txBody>
      </p:sp>
      <p:sp>
        <p:nvSpPr>
          <p:cNvPr id="60" name="BlokTextu 59">
            <a:extLst>
              <a:ext uri="{FF2B5EF4-FFF2-40B4-BE49-F238E27FC236}">
                <a16:creationId xmlns:a16="http://schemas.microsoft.com/office/drawing/2014/main" id="{A8AA7D78-82B1-AAF7-2BA0-5E4E40B7EC06}"/>
              </a:ext>
            </a:extLst>
          </p:cNvPr>
          <p:cNvSpPr txBox="1"/>
          <p:nvPr/>
        </p:nvSpPr>
        <p:spPr>
          <a:xfrm>
            <a:off x="4672501" y="6235237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160</a:t>
            </a:r>
          </a:p>
        </p:txBody>
      </p:sp>
      <p:sp>
        <p:nvSpPr>
          <p:cNvPr id="61" name="BlokTextu 60">
            <a:extLst>
              <a:ext uri="{FF2B5EF4-FFF2-40B4-BE49-F238E27FC236}">
                <a16:creationId xmlns:a16="http://schemas.microsoft.com/office/drawing/2014/main" id="{BFC2F827-2AB6-7F6A-98E1-219D2C9EFCC7}"/>
              </a:ext>
            </a:extLst>
          </p:cNvPr>
          <p:cNvSpPr txBox="1"/>
          <p:nvPr/>
        </p:nvSpPr>
        <p:spPr>
          <a:xfrm>
            <a:off x="6668920" y="623877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180</a:t>
            </a:r>
          </a:p>
        </p:txBody>
      </p:sp>
      <p:sp>
        <p:nvSpPr>
          <p:cNvPr id="62" name="BlokTextu 61">
            <a:extLst>
              <a:ext uri="{FF2B5EF4-FFF2-40B4-BE49-F238E27FC236}">
                <a16:creationId xmlns:a16="http://schemas.microsoft.com/office/drawing/2014/main" id="{27D2DCD5-143C-97BF-50BA-5DB71B3D65AD}"/>
              </a:ext>
            </a:extLst>
          </p:cNvPr>
          <p:cNvSpPr txBox="1"/>
          <p:nvPr/>
        </p:nvSpPr>
        <p:spPr>
          <a:xfrm>
            <a:off x="8640828" y="6238505"/>
            <a:ext cx="82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200</a:t>
            </a:r>
          </a:p>
        </p:txBody>
      </p:sp>
      <p:sp>
        <p:nvSpPr>
          <p:cNvPr id="63" name="BlokTextu 62">
            <a:extLst>
              <a:ext uri="{FF2B5EF4-FFF2-40B4-BE49-F238E27FC236}">
                <a16:creationId xmlns:a16="http://schemas.microsoft.com/office/drawing/2014/main" id="{B696AF6F-B895-EFFC-4426-14133B4E54C9}"/>
              </a:ext>
            </a:extLst>
          </p:cNvPr>
          <p:cNvSpPr txBox="1"/>
          <p:nvPr/>
        </p:nvSpPr>
        <p:spPr>
          <a:xfrm>
            <a:off x="10641837" y="6238505"/>
            <a:ext cx="817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t = 220</a:t>
            </a:r>
          </a:p>
        </p:txBody>
      </p:sp>
      <p:pic>
        <p:nvPicPr>
          <p:cNvPr id="65" name="Obrázok 64">
            <a:extLst>
              <a:ext uri="{FF2B5EF4-FFF2-40B4-BE49-F238E27FC236}">
                <a16:creationId xmlns:a16="http://schemas.microsoft.com/office/drawing/2014/main" id="{0BDB75FF-7DB3-32C4-2BF0-CE2194BA23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86" y="5234913"/>
            <a:ext cx="1748427" cy="1049056"/>
          </a:xfrm>
          <a:prstGeom prst="rect">
            <a:avLst/>
          </a:prstGeom>
        </p:spPr>
      </p:pic>
      <p:pic>
        <p:nvPicPr>
          <p:cNvPr id="67" name="Obrázok 66">
            <a:extLst>
              <a:ext uri="{FF2B5EF4-FFF2-40B4-BE49-F238E27FC236}">
                <a16:creationId xmlns:a16="http://schemas.microsoft.com/office/drawing/2014/main" id="{9E062324-56F1-BBBF-19A4-99AEEF3B79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55" y="5227434"/>
            <a:ext cx="1724414" cy="1034649"/>
          </a:xfrm>
          <a:prstGeom prst="rect">
            <a:avLst/>
          </a:prstGeom>
        </p:spPr>
      </p:pic>
      <p:pic>
        <p:nvPicPr>
          <p:cNvPr id="69" name="Obrázok 68">
            <a:extLst>
              <a:ext uri="{FF2B5EF4-FFF2-40B4-BE49-F238E27FC236}">
                <a16:creationId xmlns:a16="http://schemas.microsoft.com/office/drawing/2014/main" id="{FB8DE5A0-BA1A-4062-AFF4-22776662618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138" y="5235845"/>
            <a:ext cx="1727732" cy="1036639"/>
          </a:xfrm>
          <a:prstGeom prst="rect">
            <a:avLst/>
          </a:prstGeom>
        </p:spPr>
      </p:pic>
      <p:pic>
        <p:nvPicPr>
          <p:cNvPr id="71" name="Obrázok 70">
            <a:extLst>
              <a:ext uri="{FF2B5EF4-FFF2-40B4-BE49-F238E27FC236}">
                <a16:creationId xmlns:a16="http://schemas.microsoft.com/office/drawing/2014/main" id="{DE8A262C-C89F-5728-5488-840374400A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825" y="5225443"/>
            <a:ext cx="1724414" cy="103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39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AA1311-102A-5418-8B2C-2C32F5E1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sk-SK" err="1"/>
              <a:t>Otsuho</a:t>
            </a:r>
            <a:r>
              <a:rPr lang="sk-SK"/>
              <a:t> metóda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5F49F334-8907-828F-F652-04A7DC2B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4" r="31133" b="2"/>
          <a:stretch>
            <a:fillRect/>
          </a:stretch>
        </p:blipFill>
        <p:spPr>
          <a:xfrm>
            <a:off x="510764" y="2204720"/>
            <a:ext cx="2708031" cy="3586480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F714E77C-1D36-E55B-D97A-2EDFEEB8E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4" r="30763" b="2"/>
          <a:stretch>
            <a:fillRect/>
          </a:stretch>
        </p:blipFill>
        <p:spPr>
          <a:xfrm>
            <a:off x="3386928" y="2204720"/>
            <a:ext cx="2708031" cy="3586480"/>
          </a:xfrm>
          <a:prstGeom prst="rect">
            <a:avLst/>
          </a:prstGeom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C007BA-B4A3-0CAB-4D76-101BE0A6E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280" y="2204720"/>
            <a:ext cx="5173911" cy="4218134"/>
          </a:xfrm>
        </p:spPr>
        <p:txBody>
          <a:bodyPr>
            <a:normAutofit/>
          </a:bodyPr>
          <a:lstStyle/>
          <a:p>
            <a:r>
              <a:rPr lang="sk-SK"/>
              <a:t>Metóda slúži na automatické </a:t>
            </a:r>
            <a:r>
              <a:rPr lang="sk-SK" err="1"/>
              <a:t>prahovanie</a:t>
            </a:r>
            <a:endParaRPr lang="sk-SK"/>
          </a:p>
          <a:p>
            <a:r>
              <a:rPr lang="sk-SK"/>
              <a:t>Rozdeľuje obraz na pozadie a objekt</a:t>
            </a:r>
          </a:p>
          <a:p>
            <a:r>
              <a:rPr lang="sk-SK"/>
              <a:t>Vychádza z </a:t>
            </a:r>
            <a:r>
              <a:rPr lang="sk-SK" err="1"/>
              <a:t>histogramu</a:t>
            </a:r>
            <a:r>
              <a:rPr lang="sk-SK"/>
              <a:t> </a:t>
            </a:r>
          </a:p>
          <a:p>
            <a:r>
              <a:rPr lang="sk-SK"/>
              <a:t>Postupne skúša každý možný prah </a:t>
            </a:r>
          </a:p>
          <a:p>
            <a:r>
              <a:rPr lang="sk-SK"/>
              <a:t>Najlepší prah je ten ktorého priemerný jas prvej skupiny je najvzdialenejší od priemerného jasu druhej skupiny </a:t>
            </a:r>
          </a:p>
        </p:txBody>
      </p:sp>
    </p:spTree>
    <p:extLst>
      <p:ext uri="{BB962C8B-B14F-4D97-AF65-F5344CB8AC3E}">
        <p14:creationId xmlns:p14="http://schemas.microsoft.com/office/powerpoint/2010/main" val="496631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E7D321-A231-C93F-3536-51D73AF0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Výpočet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BlokTextu 3">
                <a:extLst>
                  <a:ext uri="{FF2B5EF4-FFF2-40B4-BE49-F238E27FC236}">
                    <a16:creationId xmlns:a16="http://schemas.microsoft.com/office/drawing/2014/main" id="{489F9113-2C90-ED8B-C854-358A8FED5492}"/>
                  </a:ext>
                </a:extLst>
              </p:cNvPr>
              <p:cNvSpPr txBox="1"/>
              <p:nvPr/>
            </p:nvSpPr>
            <p:spPr>
              <a:xfrm>
                <a:off x="2066017" y="2897938"/>
                <a:ext cx="1157176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4" name="BlokTextu 3">
                <a:extLst>
                  <a:ext uri="{FF2B5EF4-FFF2-40B4-BE49-F238E27FC236}">
                    <a16:creationId xmlns:a16="http://schemas.microsoft.com/office/drawing/2014/main" id="{489F9113-2C90-ED8B-C854-358A8FED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17" y="2897938"/>
                <a:ext cx="1157176" cy="525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BlokTextu 4">
                <a:extLst>
                  <a:ext uri="{FF2B5EF4-FFF2-40B4-BE49-F238E27FC236}">
                    <a16:creationId xmlns:a16="http://schemas.microsoft.com/office/drawing/2014/main" id="{DA4F1C68-959F-C939-D8A6-A016000B9343}"/>
                  </a:ext>
                </a:extLst>
              </p:cNvPr>
              <p:cNvSpPr txBox="1"/>
              <p:nvPr/>
            </p:nvSpPr>
            <p:spPr>
              <a:xfrm>
                <a:off x="843280" y="4723658"/>
                <a:ext cx="1660198" cy="778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5" name="BlokTextu 4">
                <a:extLst>
                  <a:ext uri="{FF2B5EF4-FFF2-40B4-BE49-F238E27FC236}">
                    <a16:creationId xmlns:a16="http://schemas.microsoft.com/office/drawing/2014/main" id="{DA4F1C68-959F-C939-D8A6-A016000B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" y="4723658"/>
                <a:ext cx="1660198" cy="778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1EF5112F-7D65-5536-D93E-FCF500413D1C}"/>
                  </a:ext>
                </a:extLst>
              </p:cNvPr>
              <p:cNvSpPr txBox="1"/>
              <p:nvPr/>
            </p:nvSpPr>
            <p:spPr>
              <a:xfrm>
                <a:off x="2894225" y="4677235"/>
                <a:ext cx="2059476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1EF5112F-7D65-5536-D93E-FCF500413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225" y="4677235"/>
                <a:ext cx="2059476" cy="871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BlokTextu 7">
            <a:extLst>
              <a:ext uri="{FF2B5EF4-FFF2-40B4-BE49-F238E27FC236}">
                <a16:creationId xmlns:a16="http://schemas.microsoft.com/office/drawing/2014/main" id="{BC99AB83-EA98-D9C0-7533-F468974E9129}"/>
              </a:ext>
            </a:extLst>
          </p:cNvPr>
          <p:cNvSpPr txBox="1"/>
          <p:nvPr/>
        </p:nvSpPr>
        <p:spPr>
          <a:xfrm>
            <a:off x="843280" y="2097013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err="1"/>
              <a:t>Pravdepodobnos</a:t>
            </a:r>
            <a:r>
              <a:rPr lang="sk-SK"/>
              <a:t>ť že náhodný pixel je h</a:t>
            </a:r>
            <a:r>
              <a:rPr lang="en-GB"/>
              <a:t>(</a:t>
            </a:r>
            <a:r>
              <a:rPr lang="en-GB" err="1"/>
              <a:t>i</a:t>
            </a:r>
            <a:r>
              <a:rPr lang="en-GB"/>
              <a:t>)</a:t>
            </a:r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05E65F99-719B-4C8D-727E-ECB4318CAD8C}"/>
              </a:ext>
            </a:extLst>
          </p:cNvPr>
          <p:cNvSpPr txBox="1"/>
          <p:nvPr/>
        </p:nvSpPr>
        <p:spPr>
          <a:xfrm>
            <a:off x="843280" y="4008590"/>
            <a:ext cx="380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err="1"/>
              <a:t>Kumulat</a:t>
            </a:r>
            <a:r>
              <a:rPr lang="sk-SK" err="1"/>
              <a:t>ívna</a:t>
            </a:r>
            <a:r>
              <a:rPr lang="sk-SK"/>
              <a:t> pravdepodobnosť skupín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AB7A730-6E7D-645C-2CCE-982AD5EDEE75}"/>
              </a:ext>
            </a:extLst>
          </p:cNvPr>
          <p:cNvSpPr txBox="1"/>
          <p:nvPr/>
        </p:nvSpPr>
        <p:spPr>
          <a:xfrm>
            <a:off x="6680446" y="2089906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Priemerný jas skupín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BlokTextu 10">
                <a:extLst>
                  <a:ext uri="{FF2B5EF4-FFF2-40B4-BE49-F238E27FC236}">
                    <a16:creationId xmlns:a16="http://schemas.microsoft.com/office/drawing/2014/main" id="{0116D674-6C97-D93F-C5AA-D4949C0B3C2C}"/>
                  </a:ext>
                </a:extLst>
              </p:cNvPr>
              <p:cNvSpPr txBox="1"/>
              <p:nvPr/>
            </p:nvSpPr>
            <p:spPr>
              <a:xfrm>
                <a:off x="6977867" y="2818512"/>
                <a:ext cx="1559914" cy="6104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11" name="BlokTextu 10">
                <a:extLst>
                  <a:ext uri="{FF2B5EF4-FFF2-40B4-BE49-F238E27FC236}">
                    <a16:creationId xmlns:a16="http://schemas.microsoft.com/office/drawing/2014/main" id="{0116D674-6C97-D93F-C5AA-D4949C0B3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867" y="2818512"/>
                <a:ext cx="1559914" cy="610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BlokTextu 12">
                <a:extLst>
                  <a:ext uri="{FF2B5EF4-FFF2-40B4-BE49-F238E27FC236}">
                    <a16:creationId xmlns:a16="http://schemas.microsoft.com/office/drawing/2014/main" id="{44362E54-E024-D838-E676-526708CDD535}"/>
                  </a:ext>
                </a:extLst>
              </p:cNvPr>
              <p:cNvSpPr txBox="1"/>
              <p:nvPr/>
            </p:nvSpPr>
            <p:spPr>
              <a:xfrm>
                <a:off x="8584431" y="2770422"/>
                <a:ext cx="2655736" cy="7066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𝑖𝑝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13" name="BlokTextu 12">
                <a:extLst>
                  <a:ext uri="{FF2B5EF4-FFF2-40B4-BE49-F238E27FC236}">
                    <a16:creationId xmlns:a16="http://schemas.microsoft.com/office/drawing/2014/main" id="{44362E54-E024-D838-E676-526708CDD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431" y="2770422"/>
                <a:ext cx="2655736" cy="7066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BlokTextu 13">
                <a:extLst>
                  <a:ext uri="{FF2B5EF4-FFF2-40B4-BE49-F238E27FC236}">
                    <a16:creationId xmlns:a16="http://schemas.microsoft.com/office/drawing/2014/main" id="{525B2B41-B135-7947-E605-F318061A1BF8}"/>
                  </a:ext>
                </a:extLst>
              </p:cNvPr>
              <p:cNvSpPr txBox="1"/>
              <p:nvPr/>
            </p:nvSpPr>
            <p:spPr>
              <a:xfrm>
                <a:off x="7604417" y="4909422"/>
                <a:ext cx="2461571" cy="287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sk-SK"/>
              </a:p>
            </p:txBody>
          </p:sp>
        </mc:Choice>
        <mc:Fallback xmlns="">
          <p:sp>
            <p:nvSpPr>
              <p:cNvPr id="14" name="BlokTextu 13">
                <a:extLst>
                  <a:ext uri="{FF2B5EF4-FFF2-40B4-BE49-F238E27FC236}">
                    <a16:creationId xmlns:a16="http://schemas.microsoft.com/office/drawing/2014/main" id="{525B2B41-B135-7947-E605-F318061A1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417" y="4909422"/>
                <a:ext cx="2461571" cy="287964"/>
              </a:xfrm>
              <a:prstGeom prst="rect">
                <a:avLst/>
              </a:prstGeom>
              <a:blipFill>
                <a:blip r:embed="rId7"/>
                <a:stretch>
                  <a:fillRect l="-1980" r="-495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BlokTextu 14">
            <a:extLst>
              <a:ext uri="{FF2B5EF4-FFF2-40B4-BE49-F238E27FC236}">
                <a16:creationId xmlns:a16="http://schemas.microsoft.com/office/drawing/2014/main" id="{101259CF-2E13-C971-A87D-0A64695159DF}"/>
              </a:ext>
            </a:extLst>
          </p:cNvPr>
          <p:cNvSpPr txBox="1"/>
          <p:nvPr/>
        </p:nvSpPr>
        <p:spPr>
          <a:xfrm>
            <a:off x="6779427" y="4008590"/>
            <a:ext cx="436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Miera ako moc sú od seba skupiny vzdialené</a:t>
            </a:r>
          </a:p>
        </p:txBody>
      </p:sp>
    </p:spTree>
    <p:extLst>
      <p:ext uri="{BB962C8B-B14F-4D97-AF65-F5344CB8AC3E}">
        <p14:creationId xmlns:p14="http://schemas.microsoft.com/office/powerpoint/2010/main" val="1874570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8452-5C6D-E4B4-AE62-9F3F7394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F5E81925-AEE0-F12D-B825-11C04A00F32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8" y="383251"/>
            <a:ext cx="4516687" cy="2709670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D39F5DEC-1716-E00D-54F0-B12546279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68" y="3613666"/>
            <a:ext cx="4516117" cy="2709670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C67D6E18-C479-17D7-AD04-677A6F94F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720" y="383080"/>
            <a:ext cx="4516687" cy="2710012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51C17ADC-A561-103C-00DA-34DE79E87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696" y="3613666"/>
            <a:ext cx="5406736" cy="2715788"/>
          </a:xfrm>
          <a:prstGeom prst="rect">
            <a:avLst/>
          </a:prstGeom>
        </p:spPr>
      </p:pic>
      <p:sp>
        <p:nvSpPr>
          <p:cNvPr id="12" name="BlokTextu 11">
            <a:extLst>
              <a:ext uri="{FF2B5EF4-FFF2-40B4-BE49-F238E27FC236}">
                <a16:creationId xmlns:a16="http://schemas.microsoft.com/office/drawing/2014/main" id="{BA99564F-2E38-2C2C-3BBE-D07AAFF26B9C}"/>
              </a:ext>
            </a:extLst>
          </p:cNvPr>
          <p:cNvSpPr txBox="1"/>
          <p:nvPr/>
        </p:nvSpPr>
        <p:spPr>
          <a:xfrm>
            <a:off x="2465210" y="309292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Originál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306D659D-6D58-ED5D-5B19-0DAA6F660891}"/>
              </a:ext>
            </a:extLst>
          </p:cNvPr>
          <p:cNvSpPr txBox="1"/>
          <p:nvPr/>
        </p:nvSpPr>
        <p:spPr>
          <a:xfrm>
            <a:off x="7937359" y="3092921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E03D3DC6-13EA-93AB-D118-8D81058EE630}"/>
              </a:ext>
            </a:extLst>
          </p:cNvPr>
          <p:cNvSpPr txBox="1"/>
          <p:nvPr/>
        </p:nvSpPr>
        <p:spPr>
          <a:xfrm>
            <a:off x="1695010" y="6323336"/>
            <a:ext cx="265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 - </a:t>
            </a:r>
            <a:r>
              <a:rPr lang="sk-SK" err="1"/>
              <a:t>OpenCV</a:t>
            </a:r>
            <a:endParaRPr lang="sk-SK"/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D00C35C0-BE76-3C28-A2F9-8D986A7E3E84}"/>
              </a:ext>
            </a:extLst>
          </p:cNvPr>
          <p:cNvSpPr txBox="1"/>
          <p:nvPr/>
        </p:nvSpPr>
        <p:spPr>
          <a:xfrm>
            <a:off x="8130387" y="632333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Histogram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33848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lokTextu 11">
            <a:extLst>
              <a:ext uri="{FF2B5EF4-FFF2-40B4-BE49-F238E27FC236}">
                <a16:creationId xmlns:a16="http://schemas.microsoft.com/office/drawing/2014/main" id="{D21DC775-41C1-572A-4B2E-E363C136E4A2}"/>
              </a:ext>
            </a:extLst>
          </p:cNvPr>
          <p:cNvSpPr txBox="1"/>
          <p:nvPr/>
        </p:nvSpPr>
        <p:spPr>
          <a:xfrm>
            <a:off x="2465210" y="309292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Originál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A7D13E45-1BDA-D502-FFE0-95E8707C8831}"/>
              </a:ext>
            </a:extLst>
          </p:cNvPr>
          <p:cNvSpPr txBox="1"/>
          <p:nvPr/>
        </p:nvSpPr>
        <p:spPr>
          <a:xfrm>
            <a:off x="7937359" y="3092921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E0D7AB15-86C5-704E-79F6-DF88981FC51E}"/>
              </a:ext>
            </a:extLst>
          </p:cNvPr>
          <p:cNvSpPr txBox="1"/>
          <p:nvPr/>
        </p:nvSpPr>
        <p:spPr>
          <a:xfrm>
            <a:off x="1695010" y="6323336"/>
            <a:ext cx="265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 - </a:t>
            </a:r>
            <a:r>
              <a:rPr lang="sk-SK" err="1"/>
              <a:t>OpenCV</a:t>
            </a:r>
            <a:endParaRPr lang="sk-SK"/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DFF28D05-B186-4185-0C26-C5FA4ED30A7A}"/>
              </a:ext>
            </a:extLst>
          </p:cNvPr>
          <p:cNvSpPr txBox="1"/>
          <p:nvPr/>
        </p:nvSpPr>
        <p:spPr>
          <a:xfrm>
            <a:off x="8130387" y="632333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Histogram</a:t>
            </a:r>
            <a:endParaRPr lang="sk-SK"/>
          </a:p>
        </p:txBody>
      </p:sp>
      <p:pic>
        <p:nvPicPr>
          <p:cNvPr id="17" name="Obrázok 16">
            <a:extLst>
              <a:ext uri="{FF2B5EF4-FFF2-40B4-BE49-F238E27FC236}">
                <a16:creationId xmlns:a16="http://schemas.microsoft.com/office/drawing/2014/main" id="{37230D5C-CD76-E7E7-6B0E-E84ECAE56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785" y="3613666"/>
            <a:ext cx="5394556" cy="2709670"/>
          </a:xfrm>
          <a:prstGeom prst="rect">
            <a:avLst/>
          </a:prstGeom>
        </p:spPr>
      </p:pic>
      <p:pic>
        <p:nvPicPr>
          <p:cNvPr id="19" name="Obrázok 18">
            <a:extLst>
              <a:ext uri="{FF2B5EF4-FFF2-40B4-BE49-F238E27FC236}">
                <a16:creationId xmlns:a16="http://schemas.microsoft.com/office/drawing/2014/main" id="{2A20C2A0-7C7C-4975-E347-82CEF4F5C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82" y="383251"/>
            <a:ext cx="4516117" cy="2709670"/>
          </a:xfrm>
          <a:prstGeom prst="rect">
            <a:avLst/>
          </a:prstGeom>
        </p:spPr>
      </p:pic>
      <p:pic>
        <p:nvPicPr>
          <p:cNvPr id="21" name="Obrázok 20">
            <a:extLst>
              <a:ext uri="{FF2B5EF4-FFF2-40B4-BE49-F238E27FC236}">
                <a16:creationId xmlns:a16="http://schemas.microsoft.com/office/drawing/2014/main" id="{F0C4B460-A710-1DD3-34F7-9F61F3B1D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640" y="383251"/>
            <a:ext cx="4516117" cy="2709670"/>
          </a:xfrm>
          <a:prstGeom prst="rect">
            <a:avLst/>
          </a:prstGeom>
        </p:spPr>
      </p:pic>
      <p:pic>
        <p:nvPicPr>
          <p:cNvPr id="23" name="Obrázok 22">
            <a:extLst>
              <a:ext uri="{FF2B5EF4-FFF2-40B4-BE49-F238E27FC236}">
                <a16:creationId xmlns:a16="http://schemas.microsoft.com/office/drawing/2014/main" id="{E71DFBFE-C365-8E22-002F-007EAF5CA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81" y="3613666"/>
            <a:ext cx="4516117" cy="27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30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0E6A-EF78-D7BD-89D5-8151C20B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lokTextu 11">
            <a:extLst>
              <a:ext uri="{FF2B5EF4-FFF2-40B4-BE49-F238E27FC236}">
                <a16:creationId xmlns:a16="http://schemas.microsoft.com/office/drawing/2014/main" id="{12ADBE84-72D3-A65F-2D68-4B89D2612B72}"/>
              </a:ext>
            </a:extLst>
          </p:cNvPr>
          <p:cNvSpPr txBox="1"/>
          <p:nvPr/>
        </p:nvSpPr>
        <p:spPr>
          <a:xfrm>
            <a:off x="2465210" y="309292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Originál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45E2C76A-2230-E05B-B1AF-DEB8AEF10E55}"/>
              </a:ext>
            </a:extLst>
          </p:cNvPr>
          <p:cNvSpPr txBox="1"/>
          <p:nvPr/>
        </p:nvSpPr>
        <p:spPr>
          <a:xfrm>
            <a:off x="7937359" y="3092921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AC6E0FBF-EAAE-3E6A-A61B-4C72D6A309BD}"/>
              </a:ext>
            </a:extLst>
          </p:cNvPr>
          <p:cNvSpPr txBox="1"/>
          <p:nvPr/>
        </p:nvSpPr>
        <p:spPr>
          <a:xfrm>
            <a:off x="1695010" y="6323336"/>
            <a:ext cx="265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 - </a:t>
            </a:r>
            <a:r>
              <a:rPr lang="sk-SK" err="1"/>
              <a:t>OpenCV</a:t>
            </a:r>
            <a:endParaRPr lang="sk-SK"/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358A954D-4D62-F838-091E-E520E769A5C5}"/>
              </a:ext>
            </a:extLst>
          </p:cNvPr>
          <p:cNvSpPr txBox="1"/>
          <p:nvPr/>
        </p:nvSpPr>
        <p:spPr>
          <a:xfrm>
            <a:off x="8130387" y="632333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Histogram</a:t>
            </a:r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D2FF6151-5F6D-7AFD-7079-17D8BBFEF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126" y="3613593"/>
            <a:ext cx="5351742" cy="2709743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83BE1EC9-CA9E-A34C-1801-9CBA0C510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68" y="383080"/>
            <a:ext cx="4516117" cy="2709670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2DFF036B-34F9-F79C-097D-D1AF5E048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68" y="3613593"/>
            <a:ext cx="4516117" cy="2709670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356B0725-E1E6-EAF2-BD69-01861F2ED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06" y="383080"/>
            <a:ext cx="4516117" cy="27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49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17F7B-A142-1BB3-D00C-1BB86EE6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Adaptívne </a:t>
            </a:r>
            <a:r>
              <a:rPr lang="sk-SK" err="1"/>
              <a:t>prahovanie</a:t>
            </a:r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E94EA-9B05-B572-1CF5-E1FE26F64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sk-SK"/>
              <a:t>Pre každý pixel je vytvorená štvorcová oblasť (lokálne okolie)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/>
              <a:t>Zo štvorcovej oblasti sa vytvorí priemer jasov, ktorý sa upraví o hodnotu korekcie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/>
              <a:t>Následne sa spraví porovnanie s touto hodnotou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/>
              <a:t>A nastaví sa hodnota na </a:t>
            </a:r>
            <a:r>
              <a:rPr lang="sk-SK">
                <a:latin typeface="Aptos" panose="020B0004020202020204" pitchFamily="34" charset="0"/>
              </a:rPr>
              <a:t>255 </a:t>
            </a:r>
            <a:r>
              <a:rPr lang="sk-SK"/>
              <a:t>alebo </a:t>
            </a:r>
            <a:r>
              <a:rPr lang="sk-SK">
                <a:latin typeface="Aptos" panose="020B0004020202020204" pitchFamily="34" charset="0"/>
              </a:rPr>
              <a:t>0.</a:t>
            </a:r>
            <a:endParaRPr lang="sk-SK"/>
          </a:p>
          <a:p>
            <a:pPr>
              <a:buFont typeface="Wingdings" panose="05000000000000000000" pitchFamily="2" charset="2"/>
              <a:buChar char="Ø"/>
            </a:pPr>
            <a:endParaRPr lang="sk-SK" b="1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E47AA8DF-05D6-E1C0-8CC2-A93CC7D31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137" y="0"/>
            <a:ext cx="3604863" cy="2164080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D0E52472-9F93-87EC-299A-7C173006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82" y="3820160"/>
            <a:ext cx="5056788" cy="3043813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4445B1F0-73D0-2F6D-D4DA-2D42096C0A43}"/>
              </a:ext>
            </a:extLst>
          </p:cNvPr>
          <p:cNvSpPr txBox="1"/>
          <p:nvPr/>
        </p:nvSpPr>
        <p:spPr>
          <a:xfrm>
            <a:off x="4978400" y="514096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k-SK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3C8B9B19-9966-8473-442E-EE24A3B0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804" y="3814186"/>
            <a:ext cx="5031196" cy="3043813"/>
          </a:xfrm>
          <a:prstGeom prst="rect">
            <a:avLst/>
          </a:prstGeo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D0B3CEC5-C216-BF9B-27DF-A69B650CCEB5}"/>
              </a:ext>
            </a:extLst>
          </p:cNvPr>
          <p:cNvSpPr txBox="1"/>
          <p:nvPr/>
        </p:nvSpPr>
        <p:spPr>
          <a:xfrm>
            <a:off x="5010923" y="5140960"/>
            <a:ext cx="94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/>
              <a:t>Manuál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45FAEF55-3E92-0651-6578-EDAAFC008854}"/>
              </a:ext>
            </a:extLst>
          </p:cNvPr>
          <p:cNvSpPr txBox="1"/>
          <p:nvPr/>
        </p:nvSpPr>
        <p:spPr>
          <a:xfrm>
            <a:off x="6236199" y="5140960"/>
            <a:ext cx="12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err="1"/>
              <a:t>OpenCV</a:t>
            </a:r>
            <a:endParaRPr lang="sk-SK"/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4B2085F4-980A-E233-3B78-F5A466C27E53}"/>
              </a:ext>
            </a:extLst>
          </p:cNvPr>
          <p:cNvSpPr txBox="1"/>
          <p:nvPr/>
        </p:nvSpPr>
        <p:spPr>
          <a:xfrm>
            <a:off x="5483363" y="5816322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/>
              <a:t>Okolie = 7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3615E9F9-CC6A-A5DE-AA67-6C24D064DA2E}"/>
              </a:ext>
            </a:extLst>
          </p:cNvPr>
          <p:cNvSpPr txBox="1"/>
          <p:nvPr/>
        </p:nvSpPr>
        <p:spPr>
          <a:xfrm>
            <a:off x="5483363" y="6154618"/>
            <a:ext cx="135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/>
              <a:t>Korekcia = 5 </a:t>
            </a:r>
          </a:p>
        </p:txBody>
      </p:sp>
    </p:spTree>
    <p:extLst>
      <p:ext uri="{BB962C8B-B14F-4D97-AF65-F5344CB8AC3E}">
        <p14:creationId xmlns:p14="http://schemas.microsoft.com/office/powerpoint/2010/main" val="176981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9E51FB-A1B6-4E77-9260-DDE094004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9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F54F66-6915-49F6-935A-7E08AA1D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6198"/>
            <a:ext cx="12192000" cy="6005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7AE456D3-E6D9-BBCE-27BA-B1F71C69358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21564" y="1737913"/>
            <a:ext cx="5613569" cy="3382174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06E92EE7-8715-5B4F-01D2-D523D37C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97" y="1747472"/>
            <a:ext cx="5613569" cy="3354107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3A5F42F5-23FA-8AA9-EBD3-19E7745D7D75}"/>
              </a:ext>
            </a:extLst>
          </p:cNvPr>
          <p:cNvSpPr txBox="1"/>
          <p:nvPr/>
        </p:nvSpPr>
        <p:spPr>
          <a:xfrm>
            <a:off x="1776137" y="1396676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/>
              <a:t>Adaptívne </a:t>
            </a:r>
            <a:r>
              <a:rPr lang="sk-SK" err="1"/>
              <a:t>prahovanie</a:t>
            </a:r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2C9CDE48-56A7-D839-768E-7268114F9D77}"/>
              </a:ext>
            </a:extLst>
          </p:cNvPr>
          <p:cNvSpPr txBox="1"/>
          <p:nvPr/>
        </p:nvSpPr>
        <p:spPr>
          <a:xfrm>
            <a:off x="8032834" y="1396676"/>
            <a:ext cx="307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/>
              <a:t>Globálne </a:t>
            </a:r>
            <a:r>
              <a:rPr lang="sk-SK" err="1"/>
              <a:t>prahovanie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25160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56E57581-4CCC-4835-66A6-EF3BF3A3D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74" y="2304718"/>
            <a:ext cx="5056788" cy="3043813"/>
          </a:xfrm>
          <a:prstGeom prst="rect">
            <a:avLst/>
          </a:prstGeom>
        </p:spPr>
      </p:pic>
      <p:pic>
        <p:nvPicPr>
          <p:cNvPr id="3" name="Obrázok 2">
            <a:extLst>
              <a:ext uri="{FF2B5EF4-FFF2-40B4-BE49-F238E27FC236}">
                <a16:creationId xmlns:a16="http://schemas.microsoft.com/office/drawing/2014/main" id="{A2A3CC10-F85E-DA08-97E9-4B22CE6F5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05" y="2304718"/>
            <a:ext cx="5073022" cy="3043813"/>
          </a:xfrm>
          <a:prstGeom prst="rect">
            <a:avLst/>
          </a:prstGeom>
        </p:spPr>
      </p:pic>
      <p:sp>
        <p:nvSpPr>
          <p:cNvPr id="6" name="Nadpis 5">
            <a:extLst>
              <a:ext uri="{FF2B5EF4-FFF2-40B4-BE49-F238E27FC236}">
                <a16:creationId xmlns:a16="http://schemas.microsoft.com/office/drawing/2014/main" id="{174410AD-6CB0-9A67-CABA-E3D3E687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Porovnanie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88A58694-530D-7BEB-F503-1593B9640445}"/>
              </a:ext>
            </a:extLst>
          </p:cNvPr>
          <p:cNvSpPr txBox="1"/>
          <p:nvPr/>
        </p:nvSpPr>
        <p:spPr>
          <a:xfrm>
            <a:off x="2245360" y="5348531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err="1"/>
              <a:t>Otsuho</a:t>
            </a:r>
            <a:r>
              <a:rPr lang="sk-SK"/>
              <a:t> metóda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0D41E1C0-AB5F-EC7C-E82A-8678B17B3593}"/>
              </a:ext>
            </a:extLst>
          </p:cNvPr>
          <p:cNvSpPr txBox="1"/>
          <p:nvPr/>
        </p:nvSpPr>
        <p:spPr>
          <a:xfrm>
            <a:off x="7800668" y="5348531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/>
              <a:t>Adaptívne </a:t>
            </a:r>
            <a:r>
              <a:rPr lang="sk-SK" err="1"/>
              <a:t>prahovanie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3995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0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 useBgFill="1">
        <p:nvSpPr>
          <p:cNvPr id="32" name="Rectangle 22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6E9301-2263-4E85-F734-D9F4EE75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00" y="2167391"/>
            <a:ext cx="6280927" cy="25232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400" spc="150">
                <a:solidFill>
                  <a:schemeClr val="tx2"/>
                </a:solidFill>
              </a:rPr>
              <a:t>Ďakujeme za pozornosť</a:t>
            </a: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cxnSp>
        <p:nvCxnSpPr>
          <p:cNvPr id="34" name="Straight Connector 26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8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3985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uhované">
  <a:themeElements>
    <a:clrScheme name="Pruhované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Pruhované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ruhované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576239-86b8-4a90-b242-4d080545a9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8F92B9FC79BB46952AC119E302D41D" ma:contentTypeVersion="5" ma:contentTypeDescription="Create a new document." ma:contentTypeScope="" ma:versionID="4f76d975697c5cff1b872de7fb8a78f5">
  <xsd:schema xmlns:xsd="http://www.w3.org/2001/XMLSchema" xmlns:xs="http://www.w3.org/2001/XMLSchema" xmlns:p="http://schemas.microsoft.com/office/2006/metadata/properties" xmlns:ns3="1c576239-86b8-4a90-b242-4d080545a971" targetNamespace="http://schemas.microsoft.com/office/2006/metadata/properties" ma:root="true" ma:fieldsID="3a53a22d4caa24c62838456f36310164" ns3:_="">
    <xsd:import namespace="1c576239-86b8-4a90-b242-4d080545a9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76239-86b8-4a90-b242-4d080545a9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731C95-552E-4940-9ED7-64035565C80A}">
  <ds:schemaRefs>
    <ds:schemaRef ds:uri="http://schemas.microsoft.com/office/2006/documentManagement/types"/>
    <ds:schemaRef ds:uri="http://purl.org/dc/dcmitype/"/>
    <ds:schemaRef ds:uri="1c576239-86b8-4a90-b242-4d080545a971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F6142E2-8767-48C5-B818-BEB5BC891F80}">
  <ds:schemaRefs>
    <ds:schemaRef ds:uri="1c576239-86b8-4a90-b242-4d080545a9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70563C-4023-4E9A-8D65-B9965D648E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TM03090430[[fn=Pruhované]]</Template>
  <TotalTime>0</TotalTime>
  <Words>272</Words>
  <Application>Microsoft Office PowerPoint</Application>
  <PresentationFormat>Širokouhlá</PresentationFormat>
  <Paragraphs>72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Cambria Math</vt:lpstr>
      <vt:lpstr>Corbel</vt:lpstr>
      <vt:lpstr>Wingdings</vt:lpstr>
      <vt:lpstr>Pruhované</vt:lpstr>
      <vt:lpstr>Prahovacie metódy</vt:lpstr>
      <vt:lpstr>Globálne prahovanie</vt:lpstr>
      <vt:lpstr>Zmena prahu</vt:lpstr>
      <vt:lpstr>Otsuho metóda</vt:lpstr>
      <vt:lpstr>Výpočet</vt:lpstr>
      <vt:lpstr>Prezentácia programu PowerPoint</vt:lpstr>
      <vt:lpstr>Prezentácia programu PowerPoint</vt:lpstr>
      <vt:lpstr>Prezentácia programu PowerPoint</vt:lpstr>
      <vt:lpstr>Adaptívne prahovanie</vt:lpstr>
      <vt:lpstr>Prezentácia programu PowerPoint</vt:lpstr>
      <vt:lpstr>Porovnanie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Vanca</dc:creator>
  <cp:lastModifiedBy>Ivan Vanca</cp:lastModifiedBy>
  <cp:revision>1</cp:revision>
  <dcterms:created xsi:type="dcterms:W3CDTF">2026-03-31T15:33:37Z</dcterms:created>
  <dcterms:modified xsi:type="dcterms:W3CDTF">2026-04-06T20:08:56Z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0x010100858F92B9FC79BB46952AC119E302D41D</vt:lpwstr>
  </property>
</Properties>
</file>